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6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731520"/>
            <a:ext cx="1920240" cy="1920240"/>
          </a:xfrm>
          <a:prstGeom prst="ellipse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1920240"/>
            <a:ext cx="1188720" cy="1188720"/>
          </a:xfrm>
          <a:prstGeom prst="ellipse">
            <a:avLst/>
          </a:prstGeom>
          <a:solidFill>
            <a:srgbClr val="67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03920" y="2926080"/>
            <a:ext cx="914400" cy="914400"/>
          </a:xfrm>
          <a:prstGeom prst="ellipse">
            <a:avLst/>
          </a:prstGeom>
          <a:solidFill>
            <a:srgbClr val="FFC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943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67AEEE"/>
                </a:solidFill>
                <a:latin typeface="Aptos"/>
              </a:defRPr>
            </a:pPr>
            <a:r>
              <a:t>ITE 260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ROCK, PAPER,</a:t>
            </a:r>
          </a:p>
          <a:p>
            <a:pPr algn="l">
              <a:spcAft>
                <a:spcPts val="8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SCISSORS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EBF4FF"/>
                </a:solidFill>
                <a:latin typeface="Aptos"/>
              </a:defRPr>
            </a:pPr>
            <a:r>
              <a:t>Mini 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College of Information Technology Education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PHINMA – University of Iloilo, Iloilo 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29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67AEEE"/>
                </a:solidFill>
                <a:latin typeface="Aptos"/>
              </a:defRPr>
            </a:pPr>
            <a:r>
              <a:t>GROUP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39496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Wesley Bail  •  Stephanie Jane Impasta  •  April Rhey Mucho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Gayzelle Saludes  •  Jan Maverick Tuvilla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636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EBF4FF"/>
                </a:solidFill>
                <a:latin typeface="Aptos"/>
              </a:defRPr>
            </a:pPr>
            <a: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0E2652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B6B80"/>
                </a:solidFill>
                <a:latin typeface="Aptos"/>
              </a:defRPr>
            </a:pPr>
            <a:r>
              <a:t>A simple Python game based on familiar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0">
                <a:solidFill>
                  <a:srgbClr val="18273E"/>
                </a:solidFill>
                <a:latin typeface="Aptos"/>
              </a:defRPr>
            </a:pPr>
            <a:r>
              <a:t>•  The player chooses rock, paper, or scissors.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8273E"/>
                </a:solidFill>
                <a:latin typeface="Aptos"/>
              </a:defRPr>
            </a:pPr>
            <a:r>
              <a:t>•  The computer randomly chooses one of the same options.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8273E"/>
                </a:solidFill>
                <a:latin typeface="Aptos"/>
              </a:defRPr>
            </a:pPr>
            <a:r>
              <a:t>•  The program compares both choices.</a:t>
            </a:r>
          </a:p>
          <a:p>
            <a:pPr algn="l">
              <a:spcAft>
                <a:spcPts val="800"/>
              </a:spcAft>
              <a:defRPr sz="2400" b="0">
                <a:solidFill>
                  <a:srgbClr val="18273E"/>
                </a:solidFill>
                <a:latin typeface="Aptos"/>
              </a:defRPr>
            </a:pPr>
            <a:r>
              <a:t>•  It displays whether the result is a win, loss, or tie.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B6B80"/>
                </a:solidFill>
                <a:latin typeface="Aptos"/>
              </a:defRPr>
            </a:pPr>
            <a:r>
              <a:t>ITE 260  •  ROCK, PAPER, SCISSORS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05DB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0E2652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B6B80"/>
                </a:solidFill>
                <a:latin typeface="Aptos"/>
              </a:defRPr>
            </a:pPr>
            <a:r>
              <a:t>What the group aims to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205DB0"/>
                </a:solidFill>
                <a:latin typeface="Aptos"/>
              </a:defRPr>
            </a:pPr>
            <a:r>
              <a:t>GENERAL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01952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500" b="1">
                <a:solidFill>
                  <a:srgbClr val="18273E"/>
                </a:solidFill>
                <a:latin typeface="Aptos"/>
              </a:defRPr>
            </a:pPr>
            <a:r>
              <a:t>To develop a Rock, Paper, Scissors game using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205DB0"/>
                </a:solidFill>
                <a:latin typeface="Aptos"/>
              </a:defRPr>
            </a:pPr>
            <a:r>
              <a:t>SPECIFIC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8273E"/>
                </a:solidFill>
                <a:latin typeface="Aptos"/>
              </a:defRPr>
            </a:pPr>
            <a:r>
              <a:t>•  Use input and output commands.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8273E"/>
                </a:solidFill>
                <a:latin typeface="Aptos"/>
              </a:defRPr>
            </a:pPr>
            <a:r>
              <a:t>•  Use random selection for the computer's choice.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18273E"/>
                </a:solidFill>
                <a:latin typeface="Aptos"/>
              </a:defRPr>
            </a:pPr>
            <a:r>
              <a:t>•  Apply if-elif-else conditions to determine the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B6B80"/>
                </a:solidFill>
                <a:latin typeface="Aptos"/>
              </a:defRPr>
            </a:pPr>
            <a:r>
              <a:t>ITE 260  •  ROCK, PAPER, SCISSORS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05DB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0E2652"/>
                </a:solidFill>
                <a:latin typeface="Aptos"/>
              </a:defRPr>
            </a:pPr>
            <a:r>
              <a:t>Rules of the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B6B80"/>
                </a:solidFill>
                <a:latin typeface="Aptos"/>
              </a:defRPr>
            </a:pPr>
            <a:r>
              <a:t>The winner is determined by these matchups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3291840" cy="2331720"/>
          </a:xfrm>
          <a:prstGeom prst="round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620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EBF4FF"/>
                </a:solidFill>
                <a:latin typeface="Aptos"/>
              </a:defRPr>
            </a:pPr>
            <a:r>
              <a:t>beats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1012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SCISSORS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74519"/>
            <a:ext cx="3291840" cy="2331720"/>
          </a:xfrm>
          <a:prstGeom prst="roundRect">
            <a:avLst/>
          </a:prstGeom>
          <a:solidFill>
            <a:srgbClr val="67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2402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PAPER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8620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EBF4FF"/>
                </a:solidFill>
                <a:latin typeface="Aptos"/>
              </a:defRPr>
            </a:pPr>
            <a:r>
              <a:t>beats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1012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ROCK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74519"/>
            <a:ext cx="3291840" cy="2331720"/>
          </a:xfrm>
          <a:prstGeom prst="roundRect">
            <a:avLst/>
          </a:prstGeom>
          <a:solidFill>
            <a:srgbClr val="0E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19" y="22402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SCISSORS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8620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EBF4FF"/>
                </a:solidFill>
                <a:latin typeface="Aptos"/>
              </a:defRPr>
            </a:pPr>
            <a:r>
              <a:t>beats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331012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Aptos"/>
              </a:defRPr>
            </a:pPr>
            <a:r>
              <a:t>PAPER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9204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8273E"/>
                </a:solidFill>
                <a:latin typeface="Aptos"/>
              </a:defRPr>
            </a:pPr>
            <a:r>
              <a:t>If both choices are the same, the result is a tie.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B6B80"/>
                </a:solidFill>
                <a:latin typeface="Aptos"/>
              </a:defRPr>
            </a:pPr>
            <a:r>
              <a:t>ITE 260  •  ROCK, PAPER, SCISSORS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05DB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0E2652"/>
                </a:solidFill>
                <a:latin typeface="Aptos"/>
              </a:defRPr>
            </a:pPr>
            <a:r>
              <a:t>How the Program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B6B80"/>
                </a:solidFill>
                <a:latin typeface="Aptos"/>
              </a:defRPr>
            </a:pPr>
            <a:r>
              <a:t>A quick view of the program's flow</a:t>
            </a:r>
          </a:p>
        </p:txBody>
      </p:sp>
      <p:sp>
        <p:nvSpPr>
          <p:cNvPr id="5" name="Oval 4"/>
          <p:cNvSpPr/>
          <p:nvPr/>
        </p:nvSpPr>
        <p:spPr>
          <a:xfrm>
            <a:off x="1417320" y="1874519"/>
            <a:ext cx="822960" cy="822960"/>
          </a:xfrm>
          <a:prstGeom prst="ellipse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2057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8273E"/>
                </a:solidFill>
                <a:latin typeface="Aptos"/>
              </a:defRPr>
            </a:pPr>
            <a:r>
              <a:t>Player enters a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57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205DB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4251960" y="1874519"/>
            <a:ext cx="822960" cy="822960"/>
          </a:xfrm>
          <a:prstGeom prst="ellipse">
            <a:avLst/>
          </a:prstGeom>
          <a:solidFill>
            <a:srgbClr val="67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2057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8273E"/>
                </a:solidFill>
                <a:latin typeface="Aptos"/>
              </a:defRPr>
            </a:pPr>
            <a:r>
              <a:t>Computer picks randomly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057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205DB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7086600" y="1874519"/>
            <a:ext cx="822960" cy="822960"/>
          </a:xfrm>
          <a:prstGeom prst="ellipse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600" y="2057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8273E"/>
                </a:solidFill>
                <a:latin typeface="Aptos"/>
              </a:defRPr>
            </a:pPr>
            <a:r>
              <a:t>Program compares choices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0574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800" b="1">
                <a:solidFill>
                  <a:srgbClr val="205DB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9921240" y="1874519"/>
            <a:ext cx="822960" cy="822960"/>
          </a:xfrm>
          <a:prstGeom prst="ellipse">
            <a:avLst/>
          </a:prstGeom>
          <a:solidFill>
            <a:srgbClr val="67A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20574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92608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18273E"/>
                </a:solidFill>
                <a:latin typeface="Aptos"/>
              </a:defRPr>
            </a:pPr>
            <a:r>
              <a:t>Result is displayed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83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5B6B80"/>
                </a:solidFill>
                <a:latin typeface="Aptos"/>
              </a:defRPr>
            </a:pPr>
            <a:r>
              <a:t>Start  →  Input  →  Random choice  →  Compare  → 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B6B80"/>
                </a:solidFill>
                <a:latin typeface="Aptos"/>
              </a:defRPr>
            </a:pPr>
            <a:r>
              <a:t>ITE 260  •  ROCK, PAPER, SCISSORS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05DB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0E2652"/>
                </a:solidFill>
                <a:latin typeface="Aptos"/>
              </a:defRPr>
            </a:pPr>
            <a:r>
              <a:t>Python Commands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B6B80"/>
                </a:solidFill>
                <a:latin typeface="Aptos"/>
              </a:defRPr>
            </a:pPr>
            <a:r>
              <a:t>Key parts of the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8273E"/>
                </a:solidFill>
                <a:latin typeface="Aptos"/>
              </a:defRPr>
            </a:pPr>
            <a:r>
              <a:t>•  import random — allows the computer to choose randomly.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8273E"/>
                </a:solidFill>
                <a:latin typeface="Aptos"/>
              </a:defRPr>
            </a:pPr>
            <a:r>
              <a:t>•  input() — receives the player's choice.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8273E"/>
                </a:solidFill>
                <a:latin typeface="Aptos"/>
              </a:defRPr>
            </a:pPr>
            <a:r>
              <a:t>•  .lower() — makes the input lowercase.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8273E"/>
                </a:solidFill>
                <a:latin typeface="Aptos"/>
              </a:defRPr>
            </a:pPr>
            <a:r>
              <a:t>•  if, elif, else — checks the choices and selects the result.</a:t>
            </a:r>
          </a:p>
          <a:p>
            <a:pPr algn="l">
              <a:spcAft>
                <a:spcPts val="800"/>
              </a:spcAft>
              <a:defRPr sz="2000" b="0">
                <a:solidFill>
                  <a:srgbClr val="18273E"/>
                </a:solidFill>
                <a:latin typeface="Aptos"/>
              </a:defRPr>
            </a:pPr>
            <a:r>
              <a:t>•  print() — displays messages on the screen.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B6B80"/>
                </a:solidFill>
                <a:latin typeface="Aptos"/>
              </a:defRPr>
            </a:pPr>
            <a:r>
              <a:t>ITE 260  •  ROCK, PAPER, SCISSORS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05DB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0E2652"/>
                </a:solidFill>
                <a:latin typeface="Aptos"/>
              </a:defRPr>
            </a:pPr>
            <a:r>
              <a:t>Source Code —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B6B80"/>
                </a:solidFill>
                <a:latin typeface="Aptos"/>
              </a:defRPr>
            </a:pPr>
            <a:r>
              <a:t>Set up the game and collect both choices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98480" cy="4434840"/>
          </a:xfrm>
          <a:prstGeom prst="roundRect">
            <a:avLst/>
          </a:prstGeom>
          <a:solidFill>
            <a:srgbClr val="0E2652"/>
          </a:solidFill>
          <a:ln>
            <a:solidFill>
              <a:srgbClr val="205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201168" rIns="137160"/>
          <a:lstStyle/>
          <a:p>
            <a:pPr algn="ctr">
              <a:spcAft>
                <a:spcPts val="300"/>
              </a:spcAft>
              <a:defRPr sz="2000">
                <a:solidFill>
                  <a:srgbClr val="FFFFFF"/>
                </a:solidFill>
                <a:latin typeface="Consolas"/>
              </a:defRPr>
            </a:pPr>
            <a:r>
              <a:t>import random</a:t>
            </a:r>
          </a:p>
          <a:p>
            <a:pPr>
              <a:spcAft>
                <a:spcPts val="300"/>
              </a:spcAft>
              <a:defRPr sz="20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2000">
                <a:solidFill>
                  <a:srgbClr val="FFFFFF"/>
                </a:solidFill>
                <a:latin typeface="Consolas"/>
              </a:defRPr>
            </a:pPr>
            <a:r>
              <a:t>choices = ["rock", "paper", "scissors"]</a:t>
            </a:r>
          </a:p>
          <a:p>
            <a:pPr>
              <a:spcAft>
                <a:spcPts val="300"/>
              </a:spcAft>
              <a:defRPr sz="20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2000">
                <a:solidFill>
                  <a:srgbClr val="FFFFFF"/>
                </a:solidFill>
                <a:latin typeface="Consolas"/>
              </a:defRPr>
            </a:pPr>
            <a:r>
              <a:t>player = input("Choose rock, paper, or scissors: ").lower()</a:t>
            </a:r>
          </a:p>
          <a:p>
            <a:pPr>
              <a:spcAft>
                <a:spcPts val="300"/>
              </a:spcAft>
              <a:defRPr sz="2000">
                <a:solidFill>
                  <a:srgbClr val="FFFFFF"/>
                </a:solidFill>
                <a:latin typeface="Consolas"/>
              </a:defRPr>
            </a:pPr>
            <a:r>
              <a:t>computer = random.choice(choices)</a:t>
            </a:r>
          </a:p>
          <a:p>
            <a:pPr>
              <a:spcAft>
                <a:spcPts val="300"/>
              </a:spcAft>
              <a:defRPr sz="20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2000">
                <a:solidFill>
                  <a:srgbClr val="FFFFFF"/>
                </a:solidFill>
                <a:latin typeface="Consolas"/>
              </a:defRPr>
            </a:pPr>
            <a:r>
              <a:t>print("Computer chose:", computer)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B6B80"/>
                </a:solidFill>
                <a:latin typeface="Aptos"/>
              </a:defRPr>
            </a:pPr>
            <a:r>
              <a:t>This part imports random, lists the options, takes the player's input, and selects the computer's choice.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B6B80"/>
                </a:solidFill>
                <a:latin typeface="Aptos"/>
              </a:defRPr>
            </a:pPr>
            <a:r>
              <a:t>ITE 260  •  ROCK, PAPER, SCISSORS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05DB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0E2652"/>
                </a:solidFill>
                <a:latin typeface="Aptos"/>
              </a:defRPr>
            </a:pPr>
            <a:r>
              <a:t>Source Code —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B6B80"/>
                </a:solidFill>
                <a:latin typeface="Aptos"/>
              </a:defRPr>
            </a:pPr>
            <a:r>
              <a:t>Compare choices and display the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10698480" cy="4434840"/>
          </a:xfrm>
          <a:prstGeom prst="roundRect">
            <a:avLst/>
          </a:prstGeom>
          <a:solidFill>
            <a:srgbClr val="0E2652"/>
          </a:solidFill>
          <a:ln>
            <a:solidFill>
              <a:srgbClr val="205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6032" tIns="201168" rIns="137160"/>
          <a:lstStyle/>
          <a:p>
            <a:pPr algn="ctr"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if player == computer: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    print("It's a tie!")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elif (player == "rock" and computer == "scissors") or \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     (player == "paper" and computer == "rock") or \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     (player == "scissors" and computer == "paper"):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    print("You win!")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else:</a:t>
            </a:r>
          </a:p>
          <a:p>
            <a:pPr>
              <a:spcAft>
                <a:spcPts val="300"/>
              </a:spcAft>
              <a:defRPr sz="1800">
                <a:solidFill>
                  <a:srgbClr val="FFFFFF"/>
                </a:solidFill>
                <a:latin typeface="Consolas"/>
              </a:defRPr>
            </a:pPr>
            <a:r>
              <a:t>    print("You lose!")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B6B80"/>
                </a:solidFill>
                <a:latin typeface="Aptos"/>
              </a:defRPr>
            </a:pPr>
            <a:r>
              <a:t>The conditions decide whether the player wins, loses, or 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B6B80"/>
                </a:solidFill>
                <a:latin typeface="Aptos"/>
              </a:defRPr>
            </a:pPr>
            <a:r>
              <a:t>ITE 260  •  ROCK, PAPER, SCISSORS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05DB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0E2652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B6B80"/>
                </a:solidFill>
                <a:latin typeface="Aptos"/>
              </a:defRPr>
            </a:pPr>
            <a:r>
              <a:t>What the program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18273E"/>
                </a:solidFill>
                <a:latin typeface="Aptos"/>
              </a:defRPr>
            </a:pPr>
            <a:r>
              <a:t>•  Offers three choices: rock, paper, and scissors.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8273E"/>
                </a:solidFill>
                <a:latin typeface="Aptos"/>
              </a:defRPr>
            </a:pPr>
            <a:r>
              <a:t>•  Uses random selection for the computer.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8273E"/>
                </a:solidFill>
                <a:latin typeface="Aptos"/>
              </a:defRPr>
            </a:pPr>
            <a:r>
              <a:t>•  Compares the player's choice with the computer's choice.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8273E"/>
                </a:solidFill>
                <a:latin typeface="Aptos"/>
              </a:defRPr>
            </a:pPr>
            <a:r>
              <a:t>•  Displays a clear result after each round.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B6B80"/>
                </a:solidFill>
                <a:latin typeface="Aptos"/>
              </a:defRPr>
            </a:pPr>
            <a:r>
              <a:t>ITE 260  •  ROCK, PAPER, SCISSORS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05DB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0E2652"/>
                </a:solidFill>
                <a:latin typeface="Aptos"/>
              </a:defRPr>
            </a:pPr>
            <a:r>
              <a:t>Scope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B6B80"/>
                </a:solidFill>
                <a:latin typeface="Aptos"/>
              </a:defRPr>
            </a:pPr>
            <a:r>
              <a:t>What is included in this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205DB0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8273E"/>
                </a:solidFill>
                <a:latin typeface="Aptos"/>
              </a:defRPr>
            </a:pPr>
            <a:r>
              <a:t>•  A basic, text-based game in Python.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18273E"/>
                </a:solidFill>
                <a:latin typeface="Aptos"/>
              </a:defRPr>
            </a:pPr>
            <a:r>
              <a:t>•  One player competes against the computer.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18273E"/>
                </a:solidFill>
                <a:latin typeface="Aptos"/>
              </a:defRPr>
            </a:pPr>
            <a:r>
              <a:t>•  The game displays the outcome of one 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205DB0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6596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8273E"/>
                </a:solidFill>
                <a:latin typeface="Aptos"/>
              </a:defRPr>
            </a:pPr>
            <a:r>
              <a:t>•  No graphical user interface.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18273E"/>
                </a:solidFill>
                <a:latin typeface="Aptos"/>
              </a:defRPr>
            </a:pPr>
            <a:r>
              <a:t>•  No score tracking or multiple rounds.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18273E"/>
                </a:solidFill>
                <a:latin typeface="Aptos"/>
              </a:defRPr>
            </a:pPr>
            <a:r>
              <a:t>•  This version does not validate incorrect input.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B6B80"/>
                </a:solidFill>
                <a:latin typeface="Aptos"/>
              </a:defRPr>
            </a:pPr>
            <a:r>
              <a:t>ITE 260  •  ROCK, PAPER, SCISSORS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05DB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0E2652"/>
                </a:solidFill>
                <a:latin typeface="Aptos"/>
              </a:defRPr>
            </a:pPr>
            <a:r>
              <a:t>Sample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B6B80"/>
                </a:solidFill>
                <a:latin typeface="Aptos"/>
              </a:defRPr>
            </a:pPr>
            <a:r>
              <a:t>Example of what a player may see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241280" cy="2743200"/>
          </a:xfrm>
          <a:prstGeom prst="roundRect">
            <a:avLst/>
          </a:prstGeom>
          <a:solidFill>
            <a:srgbClr val="0E2652"/>
          </a:solidFill>
          <a:ln>
            <a:solidFill>
              <a:srgbClr val="205D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411480"/>
          <a:lstStyle/>
          <a:p>
            <a:pPr algn="ctr">
              <a:spcAft>
                <a:spcPts val="2000"/>
              </a:spcAft>
              <a:defRPr sz="2300">
                <a:solidFill>
                  <a:srgbClr val="FFFFFF"/>
                </a:solidFill>
                <a:latin typeface="Consolas"/>
              </a:defRPr>
            </a:pPr>
            <a:r>
              <a:t>Choose rock, paper, or scissors: rock</a:t>
            </a:r>
          </a:p>
          <a:p>
            <a:pPr>
              <a:spcAft>
                <a:spcPts val="2000"/>
              </a:spcAft>
              <a:defRPr sz="2300">
                <a:solidFill>
                  <a:srgbClr val="FFFFFF"/>
                </a:solidFill>
                <a:latin typeface="Consolas"/>
              </a:defRPr>
            </a:pPr>
            <a:r>
              <a:t>Computer chose: scissors</a:t>
            </a:r>
          </a:p>
          <a:p>
            <a:pPr>
              <a:spcAft>
                <a:spcPts val="2000"/>
              </a:spcAft>
              <a:defRPr sz="2300">
                <a:solidFill>
                  <a:srgbClr val="FFFFFF"/>
                </a:solidFill>
                <a:latin typeface="Consolas"/>
              </a:defRPr>
            </a:pPr>
            <a:r>
              <a:t>You win!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5B6B80"/>
                </a:solidFill>
                <a:latin typeface="Aptos"/>
              </a:defRPr>
            </a:pPr>
            <a:r>
              <a:t>The actual result may change because the computer's choice is random.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B6B80"/>
                </a:solidFill>
                <a:latin typeface="Aptos"/>
              </a:defRPr>
            </a:pPr>
            <a:r>
              <a:t>ITE 260  •  ROCK, PAPER, SCISSORS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05DB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0E2652"/>
                </a:solidFill>
                <a:latin typeface="Aptos"/>
              </a:defRPr>
            </a:pPr>
            <a: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B6B80"/>
                </a:solidFill>
                <a:latin typeface="Aptos"/>
              </a:defRPr>
            </a:pPr>
            <a:r>
              <a:t>During the demo, show these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18273E"/>
                </a:solidFill>
                <a:latin typeface="Aptos"/>
              </a:defRPr>
            </a:pPr>
            <a:r>
              <a:t>•  Run the Python program.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8273E"/>
                </a:solidFill>
                <a:latin typeface="Aptos"/>
              </a:defRPr>
            </a:pPr>
            <a:r>
              <a:t>•  Enter rock, paper, or scissors.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8273E"/>
                </a:solidFill>
                <a:latin typeface="Aptos"/>
              </a:defRPr>
            </a:pPr>
            <a:r>
              <a:t>•  Observe the computer's random choice.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8273E"/>
                </a:solidFill>
                <a:latin typeface="Aptos"/>
              </a:defRPr>
            </a:pPr>
            <a:r>
              <a:t>•  Explain why the result is a win, loss, or tie.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B6B80"/>
                </a:solidFill>
                <a:latin typeface="Aptos"/>
              </a:defRPr>
            </a:pPr>
            <a:r>
              <a:t>ITE 260  •  ROCK, PAPER, SCISSORS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05DB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0E265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98755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B6B80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300" b="0">
                <a:solidFill>
                  <a:srgbClr val="18273E"/>
                </a:solidFill>
                <a:latin typeface="Aptos"/>
              </a:defRPr>
            </a:pPr>
            <a:r>
              <a:t>•  Python can be used to create a simple interactive game.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8273E"/>
                </a:solidFill>
                <a:latin typeface="Aptos"/>
              </a:defRPr>
            </a:pPr>
            <a:r>
              <a:t>•  Input, output, random selection, and conditions work together.</a:t>
            </a:r>
          </a:p>
          <a:p>
            <a:pPr algn="l">
              <a:spcAft>
                <a:spcPts val="800"/>
              </a:spcAft>
              <a:defRPr sz="2300" b="0">
                <a:solidFill>
                  <a:srgbClr val="18273E"/>
                </a:solidFill>
                <a:latin typeface="Aptos"/>
              </a:defRPr>
            </a:pPr>
            <a:r>
              <a:t>•  The project helped us practice basic programming concepts.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105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900" b="0">
                <a:solidFill>
                  <a:srgbClr val="5B6B80"/>
                </a:solidFill>
                <a:latin typeface="Aptos"/>
              </a:defRPr>
            </a:pPr>
            <a:r>
              <a:t>ITE 260  •  ROCK, PAPER, SCISSORS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205DB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6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67AEEE"/>
                </a:solidFill>
                <a:latin typeface="Aptos"/>
              </a:defRPr>
            </a:pPr>
            <a:r>
              <a:t>Questions and Answers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3794760"/>
            <a:ext cx="4480560" cy="1005840"/>
          </a:xfrm>
          <a:prstGeom prst="roundRect">
            <a:avLst/>
          </a:prstGeom>
          <a:solidFill>
            <a:srgbClr val="205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77639" y="41148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ROCK  •  PAPER  •  SCISSORS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300" b="1">
                <a:solidFill>
                  <a:srgbClr val="EBF4FF"/>
                </a:solidFill>
                <a:latin typeface="Aptos"/>
              </a:defRPr>
            </a:pPr>
            <a:r>
              <a:t>ITE 260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